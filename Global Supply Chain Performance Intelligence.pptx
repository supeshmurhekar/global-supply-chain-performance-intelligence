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95" d="100"/>
          <a:sy n="95" d="100"/>
        </p:scale>
        <p:origin x="78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97263-5CDB-4EE9-6BD2-FA25CF2098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0877D7-CEA9-B70F-4B68-EFBEB2CB2A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0E5458-9E73-A582-20B8-C8EE45C9E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D802F-B236-49E5-BB62-4C40106A7B5B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DD9917-08BD-4E2A-EF44-F9FEDB2E85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0CA436-FAEE-BD99-0AE8-C8F21084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3E806-8671-491E-8E30-7620D4A508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9016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FC100-F46C-FD0D-CC55-D7E145EF5F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1D167D-27F0-723C-4775-B1D849A69E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AC2C3B-78F0-1188-B8B3-E60226C40C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D802F-B236-49E5-BB62-4C40106A7B5B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58388C-B2EB-8F83-75F1-6C2AB8F73F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C166C9-B8E7-5BD5-CB7A-9E2604BF2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3E806-8671-491E-8E30-7620D4A508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0960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32D6F-5C05-3125-C6CC-B6A221149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EECAF3-4336-B745-AAB5-D8A7C5F7D7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5A4608-09C9-0FBF-D381-4394F9369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D802F-B236-49E5-BB62-4C40106A7B5B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B156F4-E927-6C6A-3622-7D78870E5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2B54A6-D8A6-0E85-9C9F-AB0FBD9A5D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3E806-8671-491E-8E30-7620D4A508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8195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9534F-5E1E-B302-7BB9-844CD517AC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6A6452-09D0-58C2-106B-1BCD043419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B699A6-4233-E9F0-E2B1-70DF5AB87C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C72570-723A-9296-1D5A-00645C3E1F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D802F-B236-49E5-BB62-4C40106A7B5B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5CE742-FE28-444E-E3B9-6E03F289FD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14359D-5B9C-FCDE-B213-D5FEFF33C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3E806-8671-491E-8E30-7620D4A508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1349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A8AB85-2B03-21C8-00E4-644A1C433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39A4A8-4852-4F78-2350-92D40DD35F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5DFD20-0B2A-BD98-F6F3-2DEDB09E7B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6FEEFB-9F54-47E5-9A82-F16889D7BE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F9A33C-CE74-3C18-1F28-89F0F9A2B6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C19336C-8CFE-4B00-4F6E-5E796ECA8F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D802F-B236-49E5-BB62-4C40106A7B5B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112E040-A7A5-8D5B-80B1-F8C2777A1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FDCD24F-D823-A50C-BBF4-89CAF90EE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3E806-8671-491E-8E30-7620D4A508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7310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AA1778-498A-E4F3-5221-7D5833B3C4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DC71E1-A9CC-230E-A51B-F540B65B4C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D802F-B236-49E5-BB62-4C40106A7B5B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DEF610-E8F4-E824-26E5-D6531EE911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FA16B4-1473-AC8E-F3D3-BFA3ABD4B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3E806-8671-491E-8E30-7620D4A508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06871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D3C11F4-2841-982F-C832-1956FEF788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D802F-B236-49E5-BB62-4C40106A7B5B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A9B6FB5-77D3-FF30-E948-92C0191154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5EC70C-44FB-18FE-D637-FA30999DF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3E806-8671-491E-8E30-7620D4A508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1958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4B1B7-F1E1-69D3-07DF-7268B7D164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3F6CEA-62A1-B44D-18C8-A6320436C8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C6AA8F-3A6E-97F7-A929-888A3EC9E8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2DD80C-2610-61C1-C00B-3B4A2E40F5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D802F-B236-49E5-BB62-4C40106A7B5B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B8E0D0-289B-E9F8-C16F-6785DFF6C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40D424-2256-1645-E319-4A152B782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3E806-8671-491E-8E30-7620D4A508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80488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F98D0A-E4C2-CF98-2E44-050449A112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853813D-FA59-68C4-A725-774AA3221B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E49F36-2314-AFCB-2743-5486CBE51D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6E6FD4-43B6-C9F1-5673-61A502A2A0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D802F-B236-49E5-BB62-4C40106A7B5B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44C5C3-5227-056C-29B9-97EC773694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B93D70-860C-30A3-CD25-BD1F6AF2A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3E806-8671-491E-8E30-7620D4A508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4846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49D03-F7D3-990B-8135-E8C4D8E413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C29FF9-73C9-F83C-069F-3EC0DB8984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A073E5-5A44-322B-14A2-EAF4A4C435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D802F-B236-49E5-BB62-4C40106A7B5B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157877-DAEF-23B6-3855-89314BC691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474207-DFCB-3DA7-56B3-1AAB920F3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3E806-8671-491E-8E30-7620D4A508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2834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8B77A46-E9E2-F6B6-E897-93F9274FED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661A16-E6C9-E098-01A5-74AEDAF6C9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F89819-8695-B14F-6852-8A42F77D4F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D802F-B236-49E5-BB62-4C40106A7B5B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5CF802-3F3C-7B3D-8BB6-1F7E1C8B9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B650ED-5DB8-05C6-E7A9-73895DE68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3E806-8671-491E-8E30-7620D4A508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6300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A735CD-579C-596B-0478-32AF68F124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8E930C-0836-EB17-7BEB-7FD32134E8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86FA00-1D5D-AEFA-B8FC-C800980C9A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6D802F-B236-49E5-BB62-4C40106A7B5B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5F927-C3D0-E4BB-1249-03918E3B1F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404E57-BA6E-BD6F-58D1-87085D3EF2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93E806-8671-491E-8E30-7620D4A508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4851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D104ABB2-D12A-A3A1-8F3E-C74D86362EAF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49" b="2649"/>
          <a:stretch>
            <a:fillRect/>
          </a:stretch>
        </p:blipFill>
        <p:spPr>
          <a:xfrm>
            <a:off x="6180138" y="987425"/>
            <a:ext cx="5175250" cy="487362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0F31E7E-DBC8-4D1D-5EFE-058D8268EB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0" y="2901722"/>
            <a:ext cx="6172200" cy="1045029"/>
          </a:xfrm>
        </p:spPr>
        <p:txBody>
          <a:bodyPr>
            <a:noAutofit/>
          </a:bodyPr>
          <a:lstStyle/>
          <a:p>
            <a:pPr algn="ctr">
              <a:lnSpc>
                <a:spcPct val="250000"/>
              </a:lnSpc>
            </a:pP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ea typeface="Inter Bold" pitchFamily="34" charset="-122"/>
                <a:cs typeface="Inter Bold" pitchFamily="34" charset="-120"/>
              </a:rPr>
              <a:t>Global Supply Chain Performance Intelligence</a:t>
            </a:r>
            <a:endParaRPr lang="en-US" sz="2400" b="1" dirty="0">
              <a:solidFill>
                <a:schemeClr val="accent1">
                  <a:lumMod val="75000"/>
                </a:schemeClr>
              </a:solidFill>
            </a:endParaRPr>
          </a:p>
          <a:p>
            <a:pPr algn="ctr">
              <a:lnSpc>
                <a:spcPct val="250000"/>
              </a:lnSpc>
            </a:pPr>
            <a:r>
              <a:rPr lang="en-US" sz="1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End to End Analytics Using Python, MySQL &amp; Power BI</a:t>
            </a:r>
            <a:endParaRPr lang="en-US" sz="1800" dirty="0"/>
          </a:p>
          <a:p>
            <a:pPr algn="ctr">
              <a:lnSpc>
                <a:spcPct val="250000"/>
              </a:lnSpc>
            </a:pPr>
            <a:endParaRPr lang="en-US" sz="2400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91707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F107586-155A-600A-86AE-5CD3A20F73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Executive Summary</a:t>
            </a:r>
            <a:br>
              <a:rPr lang="en-US" sz="2400" dirty="0">
                <a:solidFill>
                  <a:schemeClr val="accent1">
                    <a:lumMod val="75000"/>
                  </a:schemeClr>
                </a:solidFill>
              </a:rPr>
            </a:br>
            <a:endParaRPr lang="en-US" sz="24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1" name="Shape 7">
            <a:extLst>
              <a:ext uri="{FF2B5EF4-FFF2-40B4-BE49-F238E27FC236}">
                <a16:creationId xmlns:a16="http://schemas.microsoft.com/office/drawing/2014/main" id="{AF19282F-79E7-D02D-92B8-1DB289792057}"/>
              </a:ext>
            </a:extLst>
          </p:cNvPr>
          <p:cNvSpPr/>
          <p:nvPr/>
        </p:nvSpPr>
        <p:spPr>
          <a:xfrm>
            <a:off x="8514718" y="1458212"/>
            <a:ext cx="3200117" cy="1322189"/>
          </a:xfrm>
          <a:prstGeom prst="roundRect">
            <a:avLst>
              <a:gd name="adj" fmla="val 7205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32" name="Text 8">
            <a:extLst>
              <a:ext uri="{FF2B5EF4-FFF2-40B4-BE49-F238E27FC236}">
                <a16:creationId xmlns:a16="http://schemas.microsoft.com/office/drawing/2014/main" id="{B0E6F09B-E86A-ACD9-5A7C-154D155C04FE}"/>
              </a:ext>
            </a:extLst>
          </p:cNvPr>
          <p:cNvSpPr/>
          <p:nvPr/>
        </p:nvSpPr>
        <p:spPr>
          <a:xfrm>
            <a:off x="8749153" y="1692646"/>
            <a:ext cx="216213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OTIF Performance</a:t>
            </a:r>
            <a:endParaRPr lang="en-US" sz="2200" dirty="0"/>
          </a:p>
        </p:txBody>
      </p:sp>
      <p:sp>
        <p:nvSpPr>
          <p:cNvPr id="33" name="Text 9">
            <a:extLst>
              <a:ext uri="{FF2B5EF4-FFF2-40B4-BE49-F238E27FC236}">
                <a16:creationId xmlns:a16="http://schemas.microsoft.com/office/drawing/2014/main" id="{1B3E799B-DEF0-2069-7C37-22F31230D94D}"/>
              </a:ext>
            </a:extLst>
          </p:cNvPr>
          <p:cNvSpPr/>
          <p:nvPr/>
        </p:nvSpPr>
        <p:spPr>
          <a:xfrm>
            <a:off x="8749153" y="2183064"/>
            <a:ext cx="284256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45.17% (vs 95% benchmark)</a:t>
            </a:r>
            <a:endParaRPr lang="en-US" sz="1750" dirty="0"/>
          </a:p>
        </p:txBody>
      </p:sp>
      <p:sp>
        <p:nvSpPr>
          <p:cNvPr id="34" name="Shape 4">
            <a:extLst>
              <a:ext uri="{FF2B5EF4-FFF2-40B4-BE49-F238E27FC236}">
                <a16:creationId xmlns:a16="http://schemas.microsoft.com/office/drawing/2014/main" id="{BC635362-F5F5-3D74-D670-86F28026D1DE}"/>
              </a:ext>
            </a:extLst>
          </p:cNvPr>
          <p:cNvSpPr/>
          <p:nvPr/>
        </p:nvSpPr>
        <p:spPr>
          <a:xfrm>
            <a:off x="4613728" y="1521969"/>
            <a:ext cx="3200117" cy="1322189"/>
          </a:xfrm>
          <a:prstGeom prst="roundRect">
            <a:avLst>
              <a:gd name="adj" fmla="val 7205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35" name="Text 5">
            <a:extLst>
              <a:ext uri="{FF2B5EF4-FFF2-40B4-BE49-F238E27FC236}">
                <a16:creationId xmlns:a16="http://schemas.microsoft.com/office/drawing/2014/main" id="{CCE0B55A-B6BA-B7C8-3C23-CB725778899B}"/>
              </a:ext>
            </a:extLst>
          </p:cNvPr>
          <p:cNvSpPr/>
          <p:nvPr/>
        </p:nvSpPr>
        <p:spPr>
          <a:xfrm>
            <a:off x="4750439" y="1735602"/>
            <a:ext cx="216213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Total Revenue</a:t>
            </a:r>
            <a:endParaRPr lang="en-US" sz="2200" dirty="0"/>
          </a:p>
        </p:txBody>
      </p:sp>
      <p:sp>
        <p:nvSpPr>
          <p:cNvPr id="36" name="Text 6">
            <a:extLst>
              <a:ext uri="{FF2B5EF4-FFF2-40B4-BE49-F238E27FC236}">
                <a16:creationId xmlns:a16="http://schemas.microsoft.com/office/drawing/2014/main" id="{CB998E57-A181-230D-206D-E53511857CAF}"/>
              </a:ext>
            </a:extLst>
          </p:cNvPr>
          <p:cNvSpPr/>
          <p:nvPr/>
        </p:nvSpPr>
        <p:spPr>
          <a:xfrm>
            <a:off x="4750439" y="2226020"/>
            <a:ext cx="284256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$1.40B</a:t>
            </a:r>
            <a:endParaRPr lang="en-US" sz="1750" dirty="0"/>
          </a:p>
        </p:txBody>
      </p:sp>
      <p:sp>
        <p:nvSpPr>
          <p:cNvPr id="37" name="Shape 1">
            <a:extLst>
              <a:ext uri="{FF2B5EF4-FFF2-40B4-BE49-F238E27FC236}">
                <a16:creationId xmlns:a16="http://schemas.microsoft.com/office/drawing/2014/main" id="{3B2B58D0-1783-F78C-7BCB-BC3EBF422A2B}"/>
              </a:ext>
            </a:extLst>
          </p:cNvPr>
          <p:cNvSpPr/>
          <p:nvPr/>
        </p:nvSpPr>
        <p:spPr>
          <a:xfrm>
            <a:off x="838200" y="1521969"/>
            <a:ext cx="3224867" cy="1322189"/>
          </a:xfrm>
          <a:prstGeom prst="roundRect">
            <a:avLst>
              <a:gd name="adj" fmla="val 7205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38" name="Text 2">
            <a:extLst>
              <a:ext uri="{FF2B5EF4-FFF2-40B4-BE49-F238E27FC236}">
                <a16:creationId xmlns:a16="http://schemas.microsoft.com/office/drawing/2014/main" id="{89BD392D-9F9F-3F9E-1EAC-CB01D31AC86F}"/>
              </a:ext>
            </a:extLst>
          </p:cNvPr>
          <p:cNvSpPr/>
          <p:nvPr/>
        </p:nvSpPr>
        <p:spPr>
          <a:xfrm>
            <a:off x="1072634" y="1756403"/>
            <a:ext cx="217885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Total Shipments</a:t>
            </a:r>
            <a:endParaRPr lang="en-US" sz="2200" dirty="0"/>
          </a:p>
        </p:txBody>
      </p:sp>
      <p:sp>
        <p:nvSpPr>
          <p:cNvPr id="39" name="Text 3">
            <a:extLst>
              <a:ext uri="{FF2B5EF4-FFF2-40B4-BE49-F238E27FC236}">
                <a16:creationId xmlns:a16="http://schemas.microsoft.com/office/drawing/2014/main" id="{E163111D-457F-B85A-B3FF-3BE253D86828}"/>
              </a:ext>
            </a:extLst>
          </p:cNvPr>
          <p:cNvSpPr/>
          <p:nvPr/>
        </p:nvSpPr>
        <p:spPr>
          <a:xfrm>
            <a:off x="1072634" y="2246821"/>
            <a:ext cx="286454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~10,000</a:t>
            </a:r>
            <a:endParaRPr lang="en-US" sz="1750" dirty="0"/>
          </a:p>
        </p:txBody>
      </p:sp>
      <p:sp>
        <p:nvSpPr>
          <p:cNvPr id="40" name="Shape 10">
            <a:extLst>
              <a:ext uri="{FF2B5EF4-FFF2-40B4-BE49-F238E27FC236}">
                <a16:creationId xmlns:a16="http://schemas.microsoft.com/office/drawing/2014/main" id="{1FE872E3-3979-656B-765B-F0B1AF3F8DC5}"/>
              </a:ext>
            </a:extLst>
          </p:cNvPr>
          <p:cNvSpPr/>
          <p:nvPr/>
        </p:nvSpPr>
        <p:spPr>
          <a:xfrm>
            <a:off x="838200" y="3429000"/>
            <a:ext cx="3224866" cy="1322189"/>
          </a:xfrm>
          <a:prstGeom prst="roundRect">
            <a:avLst>
              <a:gd name="adj" fmla="val 7205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41" name="Text 11">
            <a:extLst>
              <a:ext uri="{FF2B5EF4-FFF2-40B4-BE49-F238E27FC236}">
                <a16:creationId xmlns:a16="http://schemas.microsoft.com/office/drawing/2014/main" id="{8FCA40B8-E3D9-1DCF-BE6A-DA9F4CA54F82}"/>
              </a:ext>
            </a:extLst>
          </p:cNvPr>
          <p:cNvSpPr/>
          <p:nvPr/>
        </p:nvSpPr>
        <p:spPr>
          <a:xfrm>
            <a:off x="1072635" y="3663434"/>
            <a:ext cx="217885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Avg Transit Time</a:t>
            </a:r>
            <a:endParaRPr lang="en-US" sz="2200" dirty="0"/>
          </a:p>
        </p:txBody>
      </p:sp>
      <p:sp>
        <p:nvSpPr>
          <p:cNvPr id="42" name="Text 12">
            <a:extLst>
              <a:ext uri="{FF2B5EF4-FFF2-40B4-BE49-F238E27FC236}">
                <a16:creationId xmlns:a16="http://schemas.microsoft.com/office/drawing/2014/main" id="{DE11FB62-886A-9DC7-9C4E-EB602E6EEC90}"/>
              </a:ext>
            </a:extLst>
          </p:cNvPr>
          <p:cNvSpPr/>
          <p:nvPr/>
        </p:nvSpPr>
        <p:spPr>
          <a:xfrm>
            <a:off x="1072634" y="4153853"/>
            <a:ext cx="28645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6.02 days</a:t>
            </a:r>
            <a:endParaRPr lang="en-US" sz="1750" dirty="0"/>
          </a:p>
        </p:txBody>
      </p:sp>
      <p:sp>
        <p:nvSpPr>
          <p:cNvPr id="43" name="Shape 13">
            <a:extLst>
              <a:ext uri="{FF2B5EF4-FFF2-40B4-BE49-F238E27FC236}">
                <a16:creationId xmlns:a16="http://schemas.microsoft.com/office/drawing/2014/main" id="{32EAFE23-4F24-6B55-1F65-B59D0DE10DBF}"/>
              </a:ext>
            </a:extLst>
          </p:cNvPr>
          <p:cNvSpPr/>
          <p:nvPr/>
        </p:nvSpPr>
        <p:spPr>
          <a:xfrm>
            <a:off x="4613727" y="3454931"/>
            <a:ext cx="3200117" cy="1322189"/>
          </a:xfrm>
          <a:prstGeom prst="roundRect">
            <a:avLst>
              <a:gd name="adj" fmla="val 7205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44" name="Text 14">
            <a:extLst>
              <a:ext uri="{FF2B5EF4-FFF2-40B4-BE49-F238E27FC236}">
                <a16:creationId xmlns:a16="http://schemas.microsoft.com/office/drawing/2014/main" id="{6C65BE65-95B9-36AF-74AB-A595E47739E7}"/>
              </a:ext>
            </a:extLst>
          </p:cNvPr>
          <p:cNvSpPr/>
          <p:nvPr/>
        </p:nvSpPr>
        <p:spPr>
          <a:xfrm>
            <a:off x="4848162" y="3689365"/>
            <a:ext cx="216213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Avg Transport Cost</a:t>
            </a:r>
            <a:endParaRPr lang="en-US" sz="2200" dirty="0"/>
          </a:p>
        </p:txBody>
      </p:sp>
      <p:sp>
        <p:nvSpPr>
          <p:cNvPr id="45" name="Text 15">
            <a:extLst>
              <a:ext uri="{FF2B5EF4-FFF2-40B4-BE49-F238E27FC236}">
                <a16:creationId xmlns:a16="http://schemas.microsoft.com/office/drawing/2014/main" id="{74D682A7-08B7-B81F-593C-C7CC925F86CE}"/>
              </a:ext>
            </a:extLst>
          </p:cNvPr>
          <p:cNvSpPr/>
          <p:nvPr/>
        </p:nvSpPr>
        <p:spPr>
          <a:xfrm>
            <a:off x="4848162" y="4179784"/>
            <a:ext cx="284256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$5.5 per KM</a:t>
            </a:r>
            <a:endParaRPr lang="en-US" sz="1750" dirty="0"/>
          </a:p>
        </p:txBody>
      </p:sp>
      <p:sp>
        <p:nvSpPr>
          <p:cNvPr id="46" name="Shape 16">
            <a:extLst>
              <a:ext uri="{FF2B5EF4-FFF2-40B4-BE49-F238E27FC236}">
                <a16:creationId xmlns:a16="http://schemas.microsoft.com/office/drawing/2014/main" id="{EC0A5494-8CA7-5EF7-5A19-458E084704B1}"/>
              </a:ext>
            </a:extLst>
          </p:cNvPr>
          <p:cNvSpPr/>
          <p:nvPr/>
        </p:nvSpPr>
        <p:spPr>
          <a:xfrm>
            <a:off x="8514718" y="3429000"/>
            <a:ext cx="3224866" cy="1322189"/>
          </a:xfrm>
          <a:prstGeom prst="roundRect">
            <a:avLst>
              <a:gd name="adj" fmla="val 7205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47" name="Text 17">
            <a:extLst>
              <a:ext uri="{FF2B5EF4-FFF2-40B4-BE49-F238E27FC236}">
                <a16:creationId xmlns:a16="http://schemas.microsoft.com/office/drawing/2014/main" id="{747AD01A-4DF6-1A11-186E-136A37FD083A}"/>
              </a:ext>
            </a:extLst>
          </p:cNvPr>
          <p:cNvSpPr/>
          <p:nvPr/>
        </p:nvSpPr>
        <p:spPr>
          <a:xfrm>
            <a:off x="8749154" y="3663434"/>
            <a:ext cx="217885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Profit Margin</a:t>
            </a:r>
            <a:endParaRPr lang="en-US" sz="2200" dirty="0"/>
          </a:p>
        </p:txBody>
      </p:sp>
      <p:sp>
        <p:nvSpPr>
          <p:cNvPr id="48" name="Text 18">
            <a:extLst>
              <a:ext uri="{FF2B5EF4-FFF2-40B4-BE49-F238E27FC236}">
                <a16:creationId xmlns:a16="http://schemas.microsoft.com/office/drawing/2014/main" id="{F8F721B9-DED5-A531-FF68-36689C93170F}"/>
              </a:ext>
            </a:extLst>
          </p:cNvPr>
          <p:cNvSpPr/>
          <p:nvPr/>
        </p:nvSpPr>
        <p:spPr>
          <a:xfrm>
            <a:off x="8749153" y="4153853"/>
            <a:ext cx="28645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70%</a:t>
            </a:r>
            <a:endParaRPr lang="en-US" sz="1750" dirty="0"/>
          </a:p>
        </p:txBody>
      </p:sp>
      <p:sp>
        <p:nvSpPr>
          <p:cNvPr id="61" name="Shape 19">
            <a:extLst>
              <a:ext uri="{FF2B5EF4-FFF2-40B4-BE49-F238E27FC236}">
                <a16:creationId xmlns:a16="http://schemas.microsoft.com/office/drawing/2014/main" id="{9DA7F8EE-CB4A-89B4-8AF9-220E04F07ABB}"/>
              </a:ext>
            </a:extLst>
          </p:cNvPr>
          <p:cNvSpPr/>
          <p:nvPr/>
        </p:nvSpPr>
        <p:spPr>
          <a:xfrm>
            <a:off x="914400" y="5267540"/>
            <a:ext cx="10972800" cy="1322189"/>
          </a:xfrm>
          <a:prstGeom prst="roundRect">
            <a:avLst>
              <a:gd name="adj" fmla="val 7205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62" name="Text 20">
            <a:extLst>
              <a:ext uri="{FF2B5EF4-FFF2-40B4-BE49-F238E27FC236}">
                <a16:creationId xmlns:a16="http://schemas.microsoft.com/office/drawing/2014/main" id="{CDA94AC4-9378-8FF7-3975-4DFAA4670D32}"/>
              </a:ext>
            </a:extLst>
          </p:cNvPr>
          <p:cNvSpPr/>
          <p:nvPr/>
        </p:nvSpPr>
        <p:spPr>
          <a:xfrm>
            <a:off x="1072634" y="5483043"/>
            <a:ext cx="249900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Supplier Lead Time</a:t>
            </a:r>
            <a:endParaRPr lang="en-US" sz="2200" dirty="0"/>
          </a:p>
        </p:txBody>
      </p:sp>
      <p:sp>
        <p:nvSpPr>
          <p:cNvPr id="63" name="Text 21">
            <a:extLst>
              <a:ext uri="{FF2B5EF4-FFF2-40B4-BE49-F238E27FC236}">
                <a16:creationId xmlns:a16="http://schemas.microsoft.com/office/drawing/2014/main" id="{710C21DF-1800-BC76-29FB-344CCB1DF35C}"/>
              </a:ext>
            </a:extLst>
          </p:cNvPr>
          <p:cNvSpPr/>
          <p:nvPr/>
        </p:nvSpPr>
        <p:spPr>
          <a:xfrm>
            <a:off x="1072634" y="5990059"/>
            <a:ext cx="1108271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11.22 days</a:t>
            </a:r>
            <a:endParaRPr lang="en-US" sz="1750" dirty="0"/>
          </a:p>
        </p:txBody>
      </p:sp>
    </p:spTree>
    <p:extLst>
      <p:ext uri="{BB962C8B-B14F-4D97-AF65-F5344CB8AC3E}">
        <p14:creationId xmlns:p14="http://schemas.microsoft.com/office/powerpoint/2010/main" val="35310245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0">
            <a:extLst>
              <a:ext uri="{FF2B5EF4-FFF2-40B4-BE49-F238E27FC236}">
                <a16:creationId xmlns:a16="http://schemas.microsoft.com/office/drawing/2014/main" id="{8EC82D82-D771-0B4A-A854-ABAFBCA45144}"/>
              </a:ext>
            </a:extLst>
          </p:cNvPr>
          <p:cNvSpPr/>
          <p:nvPr/>
        </p:nvSpPr>
        <p:spPr>
          <a:xfrm>
            <a:off x="844032" y="121288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chemeClr val="accent2">
                    <a:lumMod val="50000"/>
                  </a:schemeClr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Business Problem</a:t>
            </a:r>
            <a:endParaRPr lang="en-US" sz="445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28BE189-21DA-1056-5D48-6D4CDD9ACB3E}"/>
              </a:ext>
            </a:extLst>
          </p:cNvPr>
          <p:cNvSpPr txBox="1"/>
          <p:nvPr/>
        </p:nvSpPr>
        <p:spPr>
          <a:xfrm>
            <a:off x="677958" y="3091292"/>
            <a:ext cx="2835295" cy="420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Low On Time Delivery</a:t>
            </a:r>
            <a:endParaRPr lang="en-US" sz="18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DB74C79-3E92-FB88-FF95-4D6D97180195}"/>
              </a:ext>
            </a:extLst>
          </p:cNvPr>
          <p:cNvSpPr txBox="1"/>
          <p:nvPr/>
        </p:nvSpPr>
        <p:spPr>
          <a:xfrm>
            <a:off x="677958" y="3556330"/>
            <a:ext cx="3595680" cy="802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ts val="2850"/>
              </a:lnSpc>
              <a:buNone/>
            </a:pPr>
            <a:r>
              <a:rPr lang="en-US" sz="1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Failure to meet delivery expectations across the network.</a:t>
            </a:r>
            <a:endParaRPr lang="en-US" sz="1800" dirty="0"/>
          </a:p>
        </p:txBody>
      </p:sp>
      <p:sp>
        <p:nvSpPr>
          <p:cNvPr id="16" name="Text 3">
            <a:extLst>
              <a:ext uri="{FF2B5EF4-FFF2-40B4-BE49-F238E27FC236}">
                <a16:creationId xmlns:a16="http://schemas.microsoft.com/office/drawing/2014/main" id="{1AAB08B7-FB64-F4AA-9D50-44664E195BCB}"/>
              </a:ext>
            </a:extLst>
          </p:cNvPr>
          <p:cNvSpPr/>
          <p:nvPr/>
        </p:nvSpPr>
        <p:spPr>
          <a:xfrm>
            <a:off x="6514622" y="3186038"/>
            <a:ext cx="3620202" cy="326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Rising Logistics Cost Risk</a:t>
            </a:r>
            <a:endParaRPr lang="en-US" dirty="0"/>
          </a:p>
        </p:txBody>
      </p:sp>
      <p:sp>
        <p:nvSpPr>
          <p:cNvPr id="17" name="Text 4">
            <a:extLst>
              <a:ext uri="{FF2B5EF4-FFF2-40B4-BE49-F238E27FC236}">
                <a16:creationId xmlns:a16="http://schemas.microsoft.com/office/drawing/2014/main" id="{98D09E21-2166-14CE-082F-E9B3763ABF92}"/>
              </a:ext>
            </a:extLst>
          </p:cNvPr>
          <p:cNvSpPr/>
          <p:nvPr/>
        </p:nvSpPr>
        <p:spPr>
          <a:xfrm>
            <a:off x="6514622" y="3652212"/>
            <a:ext cx="3165170" cy="105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Transport cost per KM pressures margins as volumes shift.</a:t>
            </a:r>
            <a:endParaRPr lang="en-US" sz="1750" dirty="0"/>
          </a:p>
        </p:txBody>
      </p:sp>
      <p:pic>
        <p:nvPicPr>
          <p:cNvPr id="20" name="Image 0" descr="preencoded.png">
            <a:extLst>
              <a:ext uri="{FF2B5EF4-FFF2-40B4-BE49-F238E27FC236}">
                <a16:creationId xmlns:a16="http://schemas.microsoft.com/office/drawing/2014/main" id="{A9677C31-167F-8028-834D-5881DE2182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757" y="1921665"/>
            <a:ext cx="2518496" cy="1125346"/>
          </a:xfrm>
          <a:prstGeom prst="rect">
            <a:avLst/>
          </a:prstGeom>
        </p:spPr>
      </p:pic>
      <p:pic>
        <p:nvPicPr>
          <p:cNvPr id="21" name="Image 1" descr="preencoded.png">
            <a:extLst>
              <a:ext uri="{FF2B5EF4-FFF2-40B4-BE49-F238E27FC236}">
                <a16:creationId xmlns:a16="http://schemas.microsoft.com/office/drawing/2014/main" id="{D5139D86-F527-0D9A-3FE7-556D2C221E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7801" y="1991178"/>
            <a:ext cx="2727697" cy="1125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02374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2D8DEDC-FD8A-F00C-F6A6-5F2A43AB9EAF}"/>
              </a:ext>
            </a:extLst>
          </p:cNvPr>
          <p:cNvSpPr txBox="1"/>
          <p:nvPr/>
        </p:nvSpPr>
        <p:spPr>
          <a:xfrm>
            <a:off x="643065" y="3008244"/>
            <a:ext cx="3537049" cy="420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Supplier Lead Time Variability</a:t>
            </a:r>
            <a:endParaRPr lang="en-US" sz="1800" dirty="0"/>
          </a:p>
        </p:txBody>
      </p:sp>
      <p:sp>
        <p:nvSpPr>
          <p:cNvPr id="5" name="Text 0">
            <a:extLst>
              <a:ext uri="{FF2B5EF4-FFF2-40B4-BE49-F238E27FC236}">
                <a16:creationId xmlns:a16="http://schemas.microsoft.com/office/drawing/2014/main" id="{829F89E3-D6FD-FDF3-2079-C889BA52960C}"/>
              </a:ext>
            </a:extLst>
          </p:cNvPr>
          <p:cNvSpPr/>
          <p:nvPr/>
        </p:nvSpPr>
        <p:spPr>
          <a:xfrm>
            <a:off x="643065" y="112245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chemeClr val="accent2">
                    <a:lumMod val="50000"/>
                  </a:schemeClr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Business Problem</a:t>
            </a:r>
            <a:endParaRPr lang="en-US" sz="445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6" name="Text 6">
            <a:extLst>
              <a:ext uri="{FF2B5EF4-FFF2-40B4-BE49-F238E27FC236}">
                <a16:creationId xmlns:a16="http://schemas.microsoft.com/office/drawing/2014/main" id="{2B4F1FFA-7876-3288-F7A1-03BF38772A43}"/>
              </a:ext>
            </a:extLst>
          </p:cNvPr>
          <p:cNvSpPr/>
          <p:nvPr/>
        </p:nvSpPr>
        <p:spPr>
          <a:xfrm>
            <a:off x="643065" y="3526826"/>
            <a:ext cx="3315986" cy="887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Inconsistent vendor performance increases uncertainty.</a:t>
            </a:r>
            <a:endParaRPr lang="en-US" sz="1750" dirty="0"/>
          </a:p>
        </p:txBody>
      </p:sp>
      <p:pic>
        <p:nvPicPr>
          <p:cNvPr id="7" name="Image 2" descr="preencoded.png">
            <a:extLst>
              <a:ext uri="{FF2B5EF4-FFF2-40B4-BE49-F238E27FC236}">
                <a16:creationId xmlns:a16="http://schemas.microsoft.com/office/drawing/2014/main" id="{7E4448BD-6AFC-315A-47CB-1753764372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3534" y="1929055"/>
            <a:ext cx="2293097" cy="1079189"/>
          </a:xfrm>
          <a:prstGeom prst="rect">
            <a:avLst/>
          </a:prstGeom>
        </p:spPr>
      </p:pic>
      <p:pic>
        <p:nvPicPr>
          <p:cNvPr id="8" name="Image 3" descr="preencoded.png">
            <a:extLst>
              <a:ext uri="{FF2B5EF4-FFF2-40B4-BE49-F238E27FC236}">
                <a16:creationId xmlns:a16="http://schemas.microsoft.com/office/drawing/2014/main" id="{3D53A211-6191-6280-14EE-E1B5A036ED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0408" y="1929055"/>
            <a:ext cx="2293096" cy="984967"/>
          </a:xfrm>
          <a:prstGeom prst="rect">
            <a:avLst/>
          </a:prstGeom>
        </p:spPr>
      </p:pic>
      <p:sp>
        <p:nvSpPr>
          <p:cNvPr id="9" name="Text 7">
            <a:extLst>
              <a:ext uri="{FF2B5EF4-FFF2-40B4-BE49-F238E27FC236}">
                <a16:creationId xmlns:a16="http://schemas.microsoft.com/office/drawing/2014/main" id="{5237085D-76A2-6902-B709-5EB7B14B0FF8}"/>
              </a:ext>
            </a:extLst>
          </p:cNvPr>
          <p:cNvSpPr/>
          <p:nvPr/>
        </p:nvSpPr>
        <p:spPr>
          <a:xfrm>
            <a:off x="6909827" y="2985264"/>
            <a:ext cx="3537049" cy="44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Limited Operational Visibility</a:t>
            </a:r>
            <a:endParaRPr lang="en-US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3C0441E4-9ACE-CE88-A851-33E76A9F1A48}"/>
              </a:ext>
            </a:extLst>
          </p:cNvPr>
          <p:cNvSpPr/>
          <p:nvPr/>
        </p:nvSpPr>
        <p:spPr>
          <a:xfrm>
            <a:off x="6983949" y="3429000"/>
            <a:ext cx="3388803" cy="801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Hard to act proactively without consolidated analytics.</a:t>
            </a:r>
            <a:endParaRPr lang="en-US" sz="1750" dirty="0"/>
          </a:p>
        </p:txBody>
      </p:sp>
    </p:spTree>
    <p:extLst>
      <p:ext uri="{BB962C8B-B14F-4D97-AF65-F5344CB8AC3E}">
        <p14:creationId xmlns:p14="http://schemas.microsoft.com/office/powerpoint/2010/main" val="21354512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468D7AD5-F105-9F5C-AD38-406BB0477EA7}"/>
              </a:ext>
            </a:extLst>
          </p:cNvPr>
          <p:cNvSpPr/>
          <p:nvPr/>
        </p:nvSpPr>
        <p:spPr>
          <a:xfrm>
            <a:off x="1046739" y="425758"/>
            <a:ext cx="3704987" cy="4631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Project Objective</a:t>
            </a:r>
            <a:endParaRPr lang="en-US" sz="2900" dirty="0"/>
          </a:p>
        </p:txBody>
      </p:sp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883BA30C-2E35-D518-31FB-52D0A76068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739" y="1986423"/>
            <a:ext cx="6520101" cy="3639026"/>
          </a:xfrm>
          <a:prstGeom prst="rect">
            <a:avLst/>
          </a:prstGeom>
        </p:spPr>
      </p:pic>
      <p:sp>
        <p:nvSpPr>
          <p:cNvPr id="6" name="Shape 1">
            <a:extLst>
              <a:ext uri="{FF2B5EF4-FFF2-40B4-BE49-F238E27FC236}">
                <a16:creationId xmlns:a16="http://schemas.microsoft.com/office/drawing/2014/main" id="{475A1F72-73C0-F007-4B5C-0A490A5EEA98}"/>
              </a:ext>
            </a:extLst>
          </p:cNvPr>
          <p:cNvSpPr/>
          <p:nvPr/>
        </p:nvSpPr>
        <p:spPr>
          <a:xfrm>
            <a:off x="7935933" y="1130839"/>
            <a:ext cx="3343989" cy="1031796"/>
          </a:xfrm>
          <a:prstGeom prst="roundRect">
            <a:avLst>
              <a:gd name="adj" fmla="val 6033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01F818EE-A2E9-17E1-0639-311327B3A0C8}"/>
              </a:ext>
            </a:extLst>
          </p:cNvPr>
          <p:cNvSpPr/>
          <p:nvPr/>
        </p:nvSpPr>
        <p:spPr>
          <a:xfrm>
            <a:off x="8091667" y="1286573"/>
            <a:ext cx="1943814" cy="231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End-to-End Analytics</a:t>
            </a:r>
            <a:endParaRPr lang="en-US" sz="1450" dirty="0"/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144F1F4E-876C-BB8C-8BE9-ABB5DFF63E77}"/>
              </a:ext>
            </a:extLst>
          </p:cNvPr>
          <p:cNvSpPr/>
          <p:nvPr/>
        </p:nvSpPr>
        <p:spPr>
          <a:xfrm>
            <a:off x="8091667" y="1614948"/>
            <a:ext cx="3032522" cy="3919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a scalable supply chain analytics solution.</a:t>
            </a:r>
            <a:endParaRPr lang="en-US" sz="1150" dirty="0"/>
          </a:p>
        </p:txBody>
      </p:sp>
      <p:sp>
        <p:nvSpPr>
          <p:cNvPr id="9" name="Shape 4">
            <a:extLst>
              <a:ext uri="{FF2B5EF4-FFF2-40B4-BE49-F238E27FC236}">
                <a16:creationId xmlns:a16="http://schemas.microsoft.com/office/drawing/2014/main" id="{9563F797-8149-6E7F-AC86-8A1967A6AAE3}"/>
              </a:ext>
            </a:extLst>
          </p:cNvPr>
          <p:cNvSpPr/>
          <p:nvPr/>
        </p:nvSpPr>
        <p:spPr>
          <a:xfrm>
            <a:off x="7935933" y="2259433"/>
            <a:ext cx="3343989" cy="1031796"/>
          </a:xfrm>
          <a:prstGeom prst="roundRect">
            <a:avLst>
              <a:gd name="adj" fmla="val 6033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18637C68-3C36-9EDD-3B1D-891F42E98BE0}"/>
              </a:ext>
            </a:extLst>
          </p:cNvPr>
          <p:cNvSpPr/>
          <p:nvPr/>
        </p:nvSpPr>
        <p:spPr>
          <a:xfrm>
            <a:off x="8091667" y="2415167"/>
            <a:ext cx="1852493" cy="231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Monitor Delivery</a:t>
            </a:r>
            <a:endParaRPr lang="en-US" sz="1450" dirty="0"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C468B4A3-56A4-9FD9-3BD2-CD4146672B2C}"/>
              </a:ext>
            </a:extLst>
          </p:cNvPr>
          <p:cNvSpPr/>
          <p:nvPr/>
        </p:nvSpPr>
        <p:spPr>
          <a:xfrm>
            <a:off x="8091667" y="2743541"/>
            <a:ext cx="3032522" cy="3919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Track OTIF and transit performance in real time.</a:t>
            </a:r>
            <a:endParaRPr lang="en-US" sz="1150" dirty="0"/>
          </a:p>
        </p:txBody>
      </p:sp>
      <p:sp>
        <p:nvSpPr>
          <p:cNvPr id="12" name="Shape 7">
            <a:extLst>
              <a:ext uri="{FF2B5EF4-FFF2-40B4-BE49-F238E27FC236}">
                <a16:creationId xmlns:a16="http://schemas.microsoft.com/office/drawing/2014/main" id="{33DC3C88-71B4-39A8-7594-20FEACDB6374}"/>
              </a:ext>
            </a:extLst>
          </p:cNvPr>
          <p:cNvSpPr/>
          <p:nvPr/>
        </p:nvSpPr>
        <p:spPr>
          <a:xfrm>
            <a:off x="7935933" y="3388026"/>
            <a:ext cx="3343989" cy="835819"/>
          </a:xfrm>
          <a:prstGeom prst="roundRect">
            <a:avLst>
              <a:gd name="adj" fmla="val 7447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11217D99-BE27-A428-7CCB-99302837C698}"/>
              </a:ext>
            </a:extLst>
          </p:cNvPr>
          <p:cNvSpPr/>
          <p:nvPr/>
        </p:nvSpPr>
        <p:spPr>
          <a:xfrm>
            <a:off x="8091667" y="3543760"/>
            <a:ext cx="1925003" cy="231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Track Cost Efficiency</a:t>
            </a:r>
            <a:endParaRPr lang="en-US" sz="1450" dirty="0"/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71065363-F071-504A-1339-1B3791227D86}"/>
              </a:ext>
            </a:extLst>
          </p:cNvPr>
          <p:cNvSpPr/>
          <p:nvPr/>
        </p:nvSpPr>
        <p:spPr>
          <a:xfrm>
            <a:off x="8091667" y="3872134"/>
            <a:ext cx="3032522" cy="195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Measure cost per KM and optimize spend.</a:t>
            </a:r>
            <a:endParaRPr lang="en-US" sz="1150" dirty="0"/>
          </a:p>
        </p:txBody>
      </p:sp>
      <p:sp>
        <p:nvSpPr>
          <p:cNvPr id="15" name="Shape 10">
            <a:extLst>
              <a:ext uri="{FF2B5EF4-FFF2-40B4-BE49-F238E27FC236}">
                <a16:creationId xmlns:a16="http://schemas.microsoft.com/office/drawing/2014/main" id="{DBAEC4D2-4784-1310-523A-85D18CD4C4DA}"/>
              </a:ext>
            </a:extLst>
          </p:cNvPr>
          <p:cNvSpPr/>
          <p:nvPr/>
        </p:nvSpPr>
        <p:spPr>
          <a:xfrm>
            <a:off x="7935933" y="4320643"/>
            <a:ext cx="3343989" cy="1031796"/>
          </a:xfrm>
          <a:prstGeom prst="roundRect">
            <a:avLst>
              <a:gd name="adj" fmla="val 6033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6" name="Text 11">
            <a:extLst>
              <a:ext uri="{FF2B5EF4-FFF2-40B4-BE49-F238E27FC236}">
                <a16:creationId xmlns:a16="http://schemas.microsoft.com/office/drawing/2014/main" id="{BA94D33C-9D02-426E-F1E1-32BFA849BCA1}"/>
              </a:ext>
            </a:extLst>
          </p:cNvPr>
          <p:cNvSpPr/>
          <p:nvPr/>
        </p:nvSpPr>
        <p:spPr>
          <a:xfrm>
            <a:off x="8091667" y="4476377"/>
            <a:ext cx="1852493" cy="231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Evaluate Suppliers</a:t>
            </a:r>
            <a:endParaRPr lang="en-US" sz="1450" dirty="0"/>
          </a:p>
        </p:txBody>
      </p:sp>
      <p:sp>
        <p:nvSpPr>
          <p:cNvPr id="17" name="Text 12">
            <a:extLst>
              <a:ext uri="{FF2B5EF4-FFF2-40B4-BE49-F238E27FC236}">
                <a16:creationId xmlns:a16="http://schemas.microsoft.com/office/drawing/2014/main" id="{76A60732-ED7F-4E29-9E87-A6CC5B8CE7A4}"/>
              </a:ext>
            </a:extLst>
          </p:cNvPr>
          <p:cNvSpPr/>
          <p:nvPr/>
        </p:nvSpPr>
        <p:spPr>
          <a:xfrm>
            <a:off x="8091667" y="4804751"/>
            <a:ext cx="3032522" cy="3919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Assess lead times and reliability for vendor decisions.</a:t>
            </a:r>
            <a:endParaRPr lang="en-US" sz="1150" dirty="0"/>
          </a:p>
        </p:txBody>
      </p:sp>
      <p:sp>
        <p:nvSpPr>
          <p:cNvPr id="18" name="Shape 13">
            <a:extLst>
              <a:ext uri="{FF2B5EF4-FFF2-40B4-BE49-F238E27FC236}">
                <a16:creationId xmlns:a16="http://schemas.microsoft.com/office/drawing/2014/main" id="{6E2C0111-800E-BCF0-A25E-5CC32B35A491}"/>
              </a:ext>
            </a:extLst>
          </p:cNvPr>
          <p:cNvSpPr/>
          <p:nvPr/>
        </p:nvSpPr>
        <p:spPr>
          <a:xfrm>
            <a:off x="7935933" y="5449236"/>
            <a:ext cx="3343989" cy="1031796"/>
          </a:xfrm>
          <a:prstGeom prst="roundRect">
            <a:avLst>
              <a:gd name="adj" fmla="val 6033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9" name="Text 14">
            <a:extLst>
              <a:ext uri="{FF2B5EF4-FFF2-40B4-BE49-F238E27FC236}">
                <a16:creationId xmlns:a16="http://schemas.microsoft.com/office/drawing/2014/main" id="{F3500203-30AB-91F4-365D-629454F852FE}"/>
              </a:ext>
            </a:extLst>
          </p:cNvPr>
          <p:cNvSpPr/>
          <p:nvPr/>
        </p:nvSpPr>
        <p:spPr>
          <a:xfrm>
            <a:off x="8091667" y="5604970"/>
            <a:ext cx="1852493" cy="231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Enable Decisions</a:t>
            </a:r>
            <a:endParaRPr lang="en-US" sz="1450" dirty="0"/>
          </a:p>
        </p:txBody>
      </p:sp>
      <p:sp>
        <p:nvSpPr>
          <p:cNvPr id="20" name="Text 15">
            <a:extLst>
              <a:ext uri="{FF2B5EF4-FFF2-40B4-BE49-F238E27FC236}">
                <a16:creationId xmlns:a16="http://schemas.microsoft.com/office/drawing/2014/main" id="{0ADA416C-F9EE-C598-3C9B-89F224D7127F}"/>
              </a:ext>
            </a:extLst>
          </p:cNvPr>
          <p:cNvSpPr/>
          <p:nvPr/>
        </p:nvSpPr>
        <p:spPr>
          <a:xfrm>
            <a:off x="8091667" y="5933344"/>
            <a:ext cx="3032522" cy="3919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Provide actionable insights for operations and strategy.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33553859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FCC4899-39E9-402D-7EDF-121ECEA83B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03396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F0AB9DF1-ECA0-0171-7F4C-F2875AE6A399}"/>
              </a:ext>
            </a:extLst>
          </p:cNvPr>
          <p:cNvSpPr/>
          <p:nvPr/>
        </p:nvSpPr>
        <p:spPr>
          <a:xfrm>
            <a:off x="284824" y="152560"/>
            <a:ext cx="6844766" cy="702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Insights </a:t>
            </a:r>
          </a:p>
          <a:p>
            <a:pPr marL="0" indent="0" algn="l">
              <a:lnSpc>
                <a:spcPts val="5500"/>
              </a:lnSpc>
              <a:buNone/>
            </a:pPr>
            <a:r>
              <a:rPr lang="en-US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OTIF &amp; Delay Risk</a:t>
            </a:r>
            <a:endParaRPr lang="en-US" dirty="0"/>
          </a:p>
        </p:txBody>
      </p:sp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E6414FC2-EB8C-06E3-DE3E-A520707505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823" y="1440816"/>
            <a:ext cx="5191529" cy="3506664"/>
          </a:xfrm>
          <a:prstGeom prst="rect">
            <a:avLst/>
          </a:prstGeom>
        </p:spPr>
      </p:pic>
      <p:sp>
        <p:nvSpPr>
          <p:cNvPr id="6" name="Text 1">
            <a:extLst>
              <a:ext uri="{FF2B5EF4-FFF2-40B4-BE49-F238E27FC236}">
                <a16:creationId xmlns:a16="http://schemas.microsoft.com/office/drawing/2014/main" id="{6F381AB0-16A9-2897-58C2-CA88E575ABDC}"/>
              </a:ext>
            </a:extLst>
          </p:cNvPr>
          <p:cNvSpPr/>
          <p:nvPr/>
        </p:nvSpPr>
        <p:spPr>
          <a:xfrm>
            <a:off x="284823" y="5193666"/>
            <a:ext cx="4770565" cy="716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OTIF at 45.17% versus 95% benchmark. Major business risk: customer dissatisfaction and service failure.</a:t>
            </a:r>
            <a:endParaRPr lang="en-US" sz="1750" dirty="0"/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C2A672BB-D964-8B43-E84F-44E2310C2E7C}"/>
              </a:ext>
            </a:extLst>
          </p:cNvPr>
          <p:cNvSpPr/>
          <p:nvPr/>
        </p:nvSpPr>
        <p:spPr>
          <a:xfrm>
            <a:off x="6712885" y="5191061"/>
            <a:ext cx="4770565" cy="14382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Delays are network-wide Air, Sea, Road, and Rail show similar risk. Recommendation: focus on reliability improvements across carriers and routes.</a:t>
            </a:r>
            <a:endParaRPr lang="en-US" sz="175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15E04E9-31A0-2F18-A73B-56BAD1B0DB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8223" y="1554472"/>
            <a:ext cx="4770565" cy="3279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01915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EC578132-AE54-3BD2-5AF0-B317A7FF39E4}"/>
              </a:ext>
            </a:extLst>
          </p:cNvPr>
          <p:cNvSpPr/>
          <p:nvPr/>
        </p:nvSpPr>
        <p:spPr>
          <a:xfrm>
            <a:off x="301420" y="212640"/>
            <a:ext cx="641131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Routes, Revenue &amp; Customer Mix</a:t>
            </a:r>
            <a:endParaRPr lang="en-US" sz="240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C30C2876-630B-F18E-1690-E58637348C3E}"/>
              </a:ext>
            </a:extLst>
          </p:cNvPr>
          <p:cNvSpPr/>
          <p:nvPr/>
        </p:nvSpPr>
        <p:spPr>
          <a:xfrm>
            <a:off x="301421" y="3945725"/>
            <a:ext cx="198572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Slowest</a:t>
            </a: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Routes</a:t>
            </a:r>
            <a:endParaRPr lang="en-US" sz="2200" dirty="0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02AA2E11-D848-AE0C-1A61-9EDC84FB99FB}"/>
              </a:ext>
            </a:extLst>
          </p:cNvPr>
          <p:cNvSpPr/>
          <p:nvPr/>
        </p:nvSpPr>
        <p:spPr>
          <a:xfrm>
            <a:off x="301421" y="4436144"/>
            <a:ext cx="291259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North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America slightly slower than APAC &amp; Europe — route optimization needed as volumes grow.</a:t>
            </a:r>
            <a:endParaRPr lang="en-US" sz="1750" dirty="0"/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2E7D7482-5B52-4FBD-2617-166352C34AFB}"/>
              </a:ext>
            </a:extLst>
          </p:cNvPr>
          <p:cNvSpPr/>
          <p:nvPr/>
        </p:nvSpPr>
        <p:spPr>
          <a:xfrm>
            <a:off x="4743523" y="3945725"/>
            <a:ext cx="215200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Revenue</a:t>
            </a: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Performance</a:t>
            </a:r>
            <a:endParaRPr lang="en-US" sz="2200" dirty="0"/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A4496043-4362-E497-3821-6F969BB2D614}"/>
              </a:ext>
            </a:extLst>
          </p:cNvPr>
          <p:cNvSpPr/>
          <p:nvPr/>
        </p:nvSpPr>
        <p:spPr>
          <a:xfrm>
            <a:off x="4743524" y="4436144"/>
            <a:ext cx="291259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Stable </a:t>
            </a: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monthly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revenue. Lowest: Feb (~104M), Jun (~103M). Peak: Aug (~127M).</a:t>
            </a:r>
            <a:endParaRPr lang="en-US" sz="1750" dirty="0"/>
          </a:p>
        </p:txBody>
      </p:sp>
      <p:sp>
        <p:nvSpPr>
          <p:cNvPr id="12" name="Text 5">
            <a:extLst>
              <a:ext uri="{FF2B5EF4-FFF2-40B4-BE49-F238E27FC236}">
                <a16:creationId xmlns:a16="http://schemas.microsoft.com/office/drawing/2014/main" id="{A1397820-C6DE-AE46-C189-EAE0B0262FBB}"/>
              </a:ext>
            </a:extLst>
          </p:cNvPr>
          <p:cNvSpPr/>
          <p:nvPr/>
        </p:nvSpPr>
        <p:spPr>
          <a:xfrm>
            <a:off x="9185626" y="3945725"/>
            <a:ext cx="198572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Customer</a:t>
            </a: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Mix</a:t>
            </a:r>
            <a:endParaRPr lang="en-US" sz="2200" dirty="0"/>
          </a:p>
        </p:txBody>
      </p:sp>
      <p:sp>
        <p:nvSpPr>
          <p:cNvPr id="13" name="Text 6">
            <a:extLst>
              <a:ext uri="{FF2B5EF4-FFF2-40B4-BE49-F238E27FC236}">
                <a16:creationId xmlns:a16="http://schemas.microsoft.com/office/drawing/2014/main" id="{0A7C5A64-B76D-641B-BC32-7BED93539E1A}"/>
              </a:ext>
            </a:extLst>
          </p:cNvPr>
          <p:cNvSpPr/>
          <p:nvPr/>
        </p:nvSpPr>
        <p:spPr>
          <a:xfrm>
            <a:off x="9185626" y="4436144"/>
            <a:ext cx="291259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B2B ~62.6% | B2C ~37.4  heavy B2B dependency suggests diversification.</a:t>
            </a:r>
            <a:endParaRPr lang="en-US" sz="175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8C35C63-52B9-E652-3526-AB577D13F7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702" y="1778543"/>
            <a:ext cx="2648320" cy="180047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12FB89A-3B03-24CF-60C9-F0500D8953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7078" y="1480709"/>
            <a:ext cx="5240657" cy="2181529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9AE2FBE0-0CD4-A751-E90D-002FB409CBA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9736" y="1480708"/>
            <a:ext cx="2934109" cy="2181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15318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0">
            <a:extLst>
              <a:ext uri="{FF2B5EF4-FFF2-40B4-BE49-F238E27FC236}">
                <a16:creationId xmlns:a16="http://schemas.microsoft.com/office/drawing/2014/main" id="{3A7F0BF2-C911-797A-DB33-89B2E51129FE}"/>
              </a:ext>
            </a:extLst>
          </p:cNvPr>
          <p:cNvSpPr/>
          <p:nvPr/>
        </p:nvSpPr>
        <p:spPr>
          <a:xfrm>
            <a:off x="217294" y="147112"/>
            <a:ext cx="6712187" cy="5771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4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Supplier &amp; Profitability Health</a:t>
            </a:r>
            <a:endParaRPr lang="en-US" sz="4200" dirty="0"/>
          </a:p>
        </p:txBody>
      </p:sp>
      <p:pic>
        <p:nvPicPr>
          <p:cNvPr id="9" name="Image 0" descr="preencoded.png">
            <a:extLst>
              <a:ext uri="{FF2B5EF4-FFF2-40B4-BE49-F238E27FC236}">
                <a16:creationId xmlns:a16="http://schemas.microsoft.com/office/drawing/2014/main" id="{436D6830-28B1-6F7A-C6DA-37CB2C8F1B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294" y="1347859"/>
            <a:ext cx="3708875" cy="4892168"/>
          </a:xfrm>
          <a:prstGeom prst="rect">
            <a:avLst/>
          </a:prstGeom>
        </p:spPr>
      </p:pic>
      <p:sp>
        <p:nvSpPr>
          <p:cNvPr id="10" name="Shape 1">
            <a:extLst>
              <a:ext uri="{FF2B5EF4-FFF2-40B4-BE49-F238E27FC236}">
                <a16:creationId xmlns:a16="http://schemas.microsoft.com/office/drawing/2014/main" id="{BA6471E9-F7DC-42B8-2F9F-0441FE3ACABA}"/>
              </a:ext>
            </a:extLst>
          </p:cNvPr>
          <p:cNvSpPr/>
          <p:nvPr/>
        </p:nvSpPr>
        <p:spPr>
          <a:xfrm>
            <a:off x="4248466" y="1271226"/>
            <a:ext cx="7799508" cy="1707845"/>
          </a:xfrm>
          <a:prstGeom prst="roundRect">
            <a:avLst>
              <a:gd name="adj" fmla="val 4543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1" name="Text 2">
            <a:extLst>
              <a:ext uri="{FF2B5EF4-FFF2-40B4-BE49-F238E27FC236}">
                <a16:creationId xmlns:a16="http://schemas.microsoft.com/office/drawing/2014/main" id="{43197384-1CC9-79FD-D4F1-697C2C654205}"/>
              </a:ext>
            </a:extLst>
          </p:cNvPr>
          <p:cNvSpPr/>
          <p:nvPr/>
        </p:nvSpPr>
        <p:spPr>
          <a:xfrm>
            <a:off x="4470279" y="1493040"/>
            <a:ext cx="5474741" cy="288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Supplier Performance</a:t>
            </a:r>
            <a:endParaRPr lang="en-US" sz="2100" dirty="0"/>
          </a:p>
        </p:txBody>
      </p:sp>
      <p:sp>
        <p:nvSpPr>
          <p:cNvPr id="12" name="Text 3">
            <a:extLst>
              <a:ext uri="{FF2B5EF4-FFF2-40B4-BE49-F238E27FC236}">
                <a16:creationId xmlns:a16="http://schemas.microsoft.com/office/drawing/2014/main" id="{6146A6CB-E9B1-913F-7EE7-CC0A6A7E9DF6}"/>
              </a:ext>
            </a:extLst>
          </p:cNvPr>
          <p:cNvSpPr/>
          <p:nvPr/>
        </p:nvSpPr>
        <p:spPr>
          <a:xfrm>
            <a:off x="4470280" y="2030250"/>
            <a:ext cx="6950368" cy="8622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Avg lead time: 11.22 days. Moderate efficiency with vendor variability risk.</a:t>
            </a:r>
            <a:endParaRPr lang="en-US" sz="1650" dirty="0"/>
          </a:p>
        </p:txBody>
      </p:sp>
      <p:sp>
        <p:nvSpPr>
          <p:cNvPr id="13" name="Shape 4">
            <a:extLst>
              <a:ext uri="{FF2B5EF4-FFF2-40B4-BE49-F238E27FC236}">
                <a16:creationId xmlns:a16="http://schemas.microsoft.com/office/drawing/2014/main" id="{5A5D280C-A1CA-472D-71BA-44C485BEE915}"/>
              </a:ext>
            </a:extLst>
          </p:cNvPr>
          <p:cNvSpPr/>
          <p:nvPr/>
        </p:nvSpPr>
        <p:spPr>
          <a:xfrm>
            <a:off x="4248466" y="3526000"/>
            <a:ext cx="7799508" cy="1707845"/>
          </a:xfrm>
          <a:prstGeom prst="roundRect">
            <a:avLst>
              <a:gd name="adj" fmla="val 4543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4" name="Text 5">
            <a:extLst>
              <a:ext uri="{FF2B5EF4-FFF2-40B4-BE49-F238E27FC236}">
                <a16:creationId xmlns:a16="http://schemas.microsoft.com/office/drawing/2014/main" id="{9410F791-AB8E-4285-210E-9BFB4DF41908}"/>
              </a:ext>
            </a:extLst>
          </p:cNvPr>
          <p:cNvSpPr/>
          <p:nvPr/>
        </p:nvSpPr>
        <p:spPr>
          <a:xfrm>
            <a:off x="4470280" y="3747814"/>
            <a:ext cx="5126518" cy="288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Profitability</a:t>
            </a:r>
            <a:endParaRPr lang="en-US" sz="2100" dirty="0"/>
          </a:p>
        </p:txBody>
      </p:sp>
      <p:sp>
        <p:nvSpPr>
          <p:cNvPr id="15" name="Text 6">
            <a:extLst>
              <a:ext uri="{FF2B5EF4-FFF2-40B4-BE49-F238E27FC236}">
                <a16:creationId xmlns:a16="http://schemas.microsoft.com/office/drawing/2014/main" id="{A25DB53E-517A-11C0-4693-69A35F0EA7D7}"/>
              </a:ext>
            </a:extLst>
          </p:cNvPr>
          <p:cNvSpPr/>
          <p:nvPr/>
        </p:nvSpPr>
        <p:spPr>
          <a:xfrm>
            <a:off x="4470280" y="4285024"/>
            <a:ext cx="6950368" cy="8622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Profit margin ~70%. Logistics cost appears controlled but requires continuous monitoring.</a:t>
            </a:r>
            <a:endParaRPr lang="en-US" sz="1650" dirty="0"/>
          </a:p>
        </p:txBody>
      </p:sp>
    </p:spTree>
    <p:extLst>
      <p:ext uri="{BB962C8B-B14F-4D97-AF65-F5344CB8AC3E}">
        <p14:creationId xmlns:p14="http://schemas.microsoft.com/office/powerpoint/2010/main" val="34714151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0">
            <a:extLst>
              <a:ext uri="{FF2B5EF4-FFF2-40B4-BE49-F238E27FC236}">
                <a16:creationId xmlns:a16="http://schemas.microsoft.com/office/drawing/2014/main" id="{DA0851A9-0661-3666-FEEB-B748BEF09332}"/>
              </a:ext>
            </a:extLst>
          </p:cNvPr>
          <p:cNvSpPr/>
          <p:nvPr/>
        </p:nvSpPr>
        <p:spPr>
          <a:xfrm>
            <a:off x="299339" y="264048"/>
            <a:ext cx="6779538" cy="5364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Recommendations</a:t>
            </a:r>
            <a:endParaRPr lang="en-US" sz="2400" dirty="0"/>
          </a:p>
        </p:txBody>
      </p:sp>
      <p:sp>
        <p:nvSpPr>
          <p:cNvPr id="38" name="Text 1">
            <a:extLst>
              <a:ext uri="{FF2B5EF4-FFF2-40B4-BE49-F238E27FC236}">
                <a16:creationId xmlns:a16="http://schemas.microsoft.com/office/drawing/2014/main" id="{D367D83F-B6BE-8F56-2A7A-623C3BA85796}"/>
              </a:ext>
            </a:extLst>
          </p:cNvPr>
          <p:cNvSpPr/>
          <p:nvPr/>
        </p:nvSpPr>
        <p:spPr>
          <a:xfrm>
            <a:off x="299339" y="995330"/>
            <a:ext cx="171569" cy="214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01</a:t>
            </a:r>
            <a:endParaRPr lang="en-US" sz="1350" dirty="0"/>
          </a:p>
        </p:txBody>
      </p:sp>
      <p:sp>
        <p:nvSpPr>
          <p:cNvPr id="39" name="Shape 2">
            <a:extLst>
              <a:ext uri="{FF2B5EF4-FFF2-40B4-BE49-F238E27FC236}">
                <a16:creationId xmlns:a16="http://schemas.microsoft.com/office/drawing/2014/main" id="{F035A0C3-5D77-0DDB-6A35-980CC9B0E44E}"/>
              </a:ext>
            </a:extLst>
          </p:cNvPr>
          <p:cNvSpPr/>
          <p:nvPr/>
        </p:nvSpPr>
        <p:spPr>
          <a:xfrm>
            <a:off x="299339" y="1264173"/>
            <a:ext cx="7942421" cy="2286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40" name="Text 3">
            <a:extLst>
              <a:ext uri="{FF2B5EF4-FFF2-40B4-BE49-F238E27FC236}">
                <a16:creationId xmlns:a16="http://schemas.microsoft.com/office/drawing/2014/main" id="{A3D7CA46-B0A2-13A4-0E7A-3F6E613CD109}"/>
              </a:ext>
            </a:extLst>
          </p:cNvPr>
          <p:cNvSpPr/>
          <p:nvPr/>
        </p:nvSpPr>
        <p:spPr>
          <a:xfrm>
            <a:off x="299339" y="1395618"/>
            <a:ext cx="2349579" cy="268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Improve OTIF to 90%+</a:t>
            </a:r>
            <a:endParaRPr lang="en-US" sz="1650" dirty="0"/>
          </a:p>
        </p:txBody>
      </p:sp>
      <p:sp>
        <p:nvSpPr>
          <p:cNvPr id="41" name="Text 4">
            <a:extLst>
              <a:ext uri="{FF2B5EF4-FFF2-40B4-BE49-F238E27FC236}">
                <a16:creationId xmlns:a16="http://schemas.microsoft.com/office/drawing/2014/main" id="{F80278F6-3A40-5E63-6E84-B8C8EC91F402}"/>
              </a:ext>
            </a:extLst>
          </p:cNvPr>
          <p:cNvSpPr/>
          <p:nvPr/>
        </p:nvSpPr>
        <p:spPr>
          <a:xfrm>
            <a:off x="299339" y="1741614"/>
            <a:ext cx="7942421" cy="241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Prioritize reliability initiatives and carrier accountability.</a:t>
            </a:r>
            <a:endParaRPr lang="en-US" sz="1350" dirty="0"/>
          </a:p>
        </p:txBody>
      </p:sp>
      <p:sp>
        <p:nvSpPr>
          <p:cNvPr id="42" name="Text 5">
            <a:extLst>
              <a:ext uri="{FF2B5EF4-FFF2-40B4-BE49-F238E27FC236}">
                <a16:creationId xmlns:a16="http://schemas.microsoft.com/office/drawing/2014/main" id="{B31271D4-8E7F-904E-097C-827839341D08}"/>
              </a:ext>
            </a:extLst>
          </p:cNvPr>
          <p:cNvSpPr/>
          <p:nvPr/>
        </p:nvSpPr>
        <p:spPr>
          <a:xfrm>
            <a:off x="299339" y="2241438"/>
            <a:ext cx="171569" cy="214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02</a:t>
            </a:r>
            <a:endParaRPr lang="en-US" sz="1350" dirty="0"/>
          </a:p>
        </p:txBody>
      </p:sp>
      <p:sp>
        <p:nvSpPr>
          <p:cNvPr id="43" name="Shape 6">
            <a:extLst>
              <a:ext uri="{FF2B5EF4-FFF2-40B4-BE49-F238E27FC236}">
                <a16:creationId xmlns:a16="http://schemas.microsoft.com/office/drawing/2014/main" id="{1DDADDAF-844F-8FF8-B989-E12666A75348}"/>
              </a:ext>
            </a:extLst>
          </p:cNvPr>
          <p:cNvSpPr/>
          <p:nvPr/>
        </p:nvSpPr>
        <p:spPr>
          <a:xfrm>
            <a:off x="299339" y="2510281"/>
            <a:ext cx="7942421" cy="2286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44" name="Text 7">
            <a:extLst>
              <a:ext uri="{FF2B5EF4-FFF2-40B4-BE49-F238E27FC236}">
                <a16:creationId xmlns:a16="http://schemas.microsoft.com/office/drawing/2014/main" id="{998CD5A1-4D7B-5C75-6D18-E8F764C4DCC4}"/>
              </a:ext>
            </a:extLst>
          </p:cNvPr>
          <p:cNvSpPr/>
          <p:nvPr/>
        </p:nvSpPr>
        <p:spPr>
          <a:xfrm>
            <a:off x="299339" y="2641726"/>
            <a:ext cx="2816185" cy="268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Optimize Routes &amp; Carriers</a:t>
            </a:r>
            <a:endParaRPr lang="en-US" sz="1650" dirty="0"/>
          </a:p>
        </p:txBody>
      </p:sp>
      <p:sp>
        <p:nvSpPr>
          <p:cNvPr id="45" name="Text 8">
            <a:extLst>
              <a:ext uri="{FF2B5EF4-FFF2-40B4-BE49-F238E27FC236}">
                <a16:creationId xmlns:a16="http://schemas.microsoft.com/office/drawing/2014/main" id="{5F921448-7991-40D2-4277-00C866167AD8}"/>
              </a:ext>
            </a:extLst>
          </p:cNvPr>
          <p:cNvSpPr/>
          <p:nvPr/>
        </p:nvSpPr>
        <p:spPr>
          <a:xfrm>
            <a:off x="299339" y="2987722"/>
            <a:ext cx="7942421" cy="241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Route-level optimization to reduce transit time and cost per KM.</a:t>
            </a:r>
            <a:endParaRPr lang="en-US" sz="1350" dirty="0"/>
          </a:p>
        </p:txBody>
      </p:sp>
      <p:sp>
        <p:nvSpPr>
          <p:cNvPr id="46" name="Text 9">
            <a:extLst>
              <a:ext uri="{FF2B5EF4-FFF2-40B4-BE49-F238E27FC236}">
                <a16:creationId xmlns:a16="http://schemas.microsoft.com/office/drawing/2014/main" id="{E8DF3E04-BFAB-B853-3D53-19C3F84B4420}"/>
              </a:ext>
            </a:extLst>
          </p:cNvPr>
          <p:cNvSpPr/>
          <p:nvPr/>
        </p:nvSpPr>
        <p:spPr>
          <a:xfrm>
            <a:off x="299339" y="3487546"/>
            <a:ext cx="171569" cy="214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03</a:t>
            </a:r>
            <a:endParaRPr lang="en-US" sz="1350" dirty="0"/>
          </a:p>
        </p:txBody>
      </p:sp>
      <p:sp>
        <p:nvSpPr>
          <p:cNvPr id="47" name="Shape 10">
            <a:extLst>
              <a:ext uri="{FF2B5EF4-FFF2-40B4-BE49-F238E27FC236}">
                <a16:creationId xmlns:a16="http://schemas.microsoft.com/office/drawing/2014/main" id="{C3C9FCEE-E01A-750D-A12F-77214F768465}"/>
              </a:ext>
            </a:extLst>
          </p:cNvPr>
          <p:cNvSpPr/>
          <p:nvPr/>
        </p:nvSpPr>
        <p:spPr>
          <a:xfrm>
            <a:off x="299339" y="3756389"/>
            <a:ext cx="7942421" cy="2286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48" name="Text 11">
            <a:extLst>
              <a:ext uri="{FF2B5EF4-FFF2-40B4-BE49-F238E27FC236}">
                <a16:creationId xmlns:a16="http://schemas.microsoft.com/office/drawing/2014/main" id="{BD1A7BCB-6515-0070-116B-8900B1F2DA25}"/>
              </a:ext>
            </a:extLst>
          </p:cNvPr>
          <p:cNvSpPr/>
          <p:nvPr/>
        </p:nvSpPr>
        <p:spPr>
          <a:xfrm>
            <a:off x="299339" y="3887834"/>
            <a:ext cx="3228380" cy="268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Strengthen Supplier Scorecard</a:t>
            </a:r>
            <a:endParaRPr lang="en-US" sz="1650" dirty="0"/>
          </a:p>
        </p:txBody>
      </p:sp>
      <p:sp>
        <p:nvSpPr>
          <p:cNvPr id="49" name="Text 12">
            <a:extLst>
              <a:ext uri="{FF2B5EF4-FFF2-40B4-BE49-F238E27FC236}">
                <a16:creationId xmlns:a16="http://schemas.microsoft.com/office/drawing/2014/main" id="{5D7D07D7-F72A-5E22-310A-02BD62A83DE1}"/>
              </a:ext>
            </a:extLst>
          </p:cNvPr>
          <p:cNvSpPr/>
          <p:nvPr/>
        </p:nvSpPr>
        <p:spPr>
          <a:xfrm>
            <a:off x="299339" y="4233830"/>
            <a:ext cx="7942421" cy="241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Standardize vendor metrics and act on variability.</a:t>
            </a:r>
            <a:endParaRPr lang="en-US" sz="1350" dirty="0"/>
          </a:p>
        </p:txBody>
      </p:sp>
      <p:sp>
        <p:nvSpPr>
          <p:cNvPr id="50" name="Text 13">
            <a:extLst>
              <a:ext uri="{FF2B5EF4-FFF2-40B4-BE49-F238E27FC236}">
                <a16:creationId xmlns:a16="http://schemas.microsoft.com/office/drawing/2014/main" id="{05713890-83F3-3872-722A-AC4FD72597A5}"/>
              </a:ext>
            </a:extLst>
          </p:cNvPr>
          <p:cNvSpPr/>
          <p:nvPr/>
        </p:nvSpPr>
        <p:spPr>
          <a:xfrm>
            <a:off x="299339" y="4733654"/>
            <a:ext cx="171569" cy="214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04</a:t>
            </a:r>
            <a:endParaRPr lang="en-US" sz="1350" dirty="0"/>
          </a:p>
        </p:txBody>
      </p:sp>
      <p:sp>
        <p:nvSpPr>
          <p:cNvPr id="51" name="Shape 14">
            <a:extLst>
              <a:ext uri="{FF2B5EF4-FFF2-40B4-BE49-F238E27FC236}">
                <a16:creationId xmlns:a16="http://schemas.microsoft.com/office/drawing/2014/main" id="{C8557198-95AD-F6EE-4960-5D92A0D3A40A}"/>
              </a:ext>
            </a:extLst>
          </p:cNvPr>
          <p:cNvSpPr/>
          <p:nvPr/>
        </p:nvSpPr>
        <p:spPr>
          <a:xfrm>
            <a:off x="299339" y="5002497"/>
            <a:ext cx="7942421" cy="2286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52" name="Text 15">
            <a:extLst>
              <a:ext uri="{FF2B5EF4-FFF2-40B4-BE49-F238E27FC236}">
                <a16:creationId xmlns:a16="http://schemas.microsoft.com/office/drawing/2014/main" id="{5C5DC0EB-9989-EC27-DFB6-950D874459D2}"/>
              </a:ext>
            </a:extLst>
          </p:cNvPr>
          <p:cNvSpPr/>
          <p:nvPr/>
        </p:nvSpPr>
        <p:spPr>
          <a:xfrm>
            <a:off x="299339" y="5133942"/>
            <a:ext cx="4050387" cy="268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Diversify Customer Mix &amp; Monitor KPIs</a:t>
            </a:r>
            <a:endParaRPr lang="en-US" sz="1650" dirty="0"/>
          </a:p>
        </p:txBody>
      </p:sp>
      <p:sp>
        <p:nvSpPr>
          <p:cNvPr id="53" name="Text 16">
            <a:extLst>
              <a:ext uri="{FF2B5EF4-FFF2-40B4-BE49-F238E27FC236}">
                <a16:creationId xmlns:a16="http://schemas.microsoft.com/office/drawing/2014/main" id="{BE472CEC-DF2F-3AAA-7C41-FE8A1F7A849C}"/>
              </a:ext>
            </a:extLst>
          </p:cNvPr>
          <p:cNvSpPr/>
          <p:nvPr/>
        </p:nvSpPr>
        <p:spPr>
          <a:xfrm>
            <a:off x="299339" y="5479938"/>
            <a:ext cx="7942421" cy="241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Grow B2C and continuously monitor cost and margins via dashboards.</a:t>
            </a:r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10890946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373</Words>
  <Application>Microsoft Office PowerPoint</Application>
  <PresentationFormat>Widescreen</PresentationFormat>
  <Paragraphs>67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Calibri</vt:lpstr>
      <vt:lpstr>Calibri Light</vt:lpstr>
      <vt:lpstr>Inter</vt:lpstr>
      <vt:lpstr>Inter Bold</vt:lpstr>
      <vt:lpstr>Inter Light</vt:lpstr>
      <vt:lpstr>Office Theme</vt:lpstr>
      <vt:lpstr>PowerPoint Presentation</vt:lpstr>
      <vt:lpstr>Executive Summary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supesh murhekar</dc:creator>
  <cp:lastModifiedBy>supesh murhekar</cp:lastModifiedBy>
  <cp:revision>1</cp:revision>
  <dcterms:created xsi:type="dcterms:W3CDTF">2026-03-01T16:27:58Z</dcterms:created>
  <dcterms:modified xsi:type="dcterms:W3CDTF">2026-03-01T16:28:47Z</dcterms:modified>
</cp:coreProperties>
</file>